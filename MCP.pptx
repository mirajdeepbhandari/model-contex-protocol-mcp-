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65" r:id="rId4"/>
    <p:sldId id="258" r:id="rId5"/>
    <p:sldId id="259" r:id="rId6"/>
    <p:sldId id="260" r:id="rId7"/>
    <p:sldId id="261" r:id="rId8"/>
    <p:sldId id="263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>
        <p:scale>
          <a:sx n="62" d="100"/>
          <a:sy n="62" d="100"/>
        </p:scale>
        <p:origin x="1447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ED332-334B-4721-A88E-26A4371399A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50C13-8C66-4DEF-946E-0D4F83AEF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33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everyone, I am Miraj Bhandari. Today, in this session, we will understand the Model Context Protocol (MCP). So We will discuss its importance, architecture diagram, core components, and also do a hands-on session with the code. </a:t>
            </a:r>
            <a:r>
              <a:rPr lang="en-US" b="1" dirty="0"/>
              <a:t>So let’s get started.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50C13-8C66-4DEF-946E-0D4F83AEF0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76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session, we will go through the following topics: first, a problem scenario to understand the need for MCP, then its introduction;, next, we will discuss its core components and architecture </a:t>
            </a:r>
            <a:r>
              <a:rPr lang="en-US" dirty="0" err="1"/>
              <a:t>diagram;,after</a:t>
            </a:r>
            <a:r>
              <a:rPr lang="en-US" dirty="0"/>
              <a:t> that, we will cover its benefits; and finally, we will do a hands-on with MCP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50C13-8C66-4DEF-946E-0D4F83AEF0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89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diving into the MCP introduction, I want to share a scenario through which we can understand the need for MCP and how it solves real-world problems. So, let’s move on to the problem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50C13-8C66-4DEF-946E-0D4F83AEF0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38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50C13-8C66-4DEF-946E-0D4F83AEF0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16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0E563-6D92-2D91-CA1D-B71E4D907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A8A27-2851-E5CB-19A9-8B496FBDA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23960-7515-9844-67F5-CAF5AC5DA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C2E69-64C8-0CC0-998E-FACF92315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50C13-8C66-4DEF-946E-0D4F83AEF0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53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4E6E-7224-B35A-3F89-76C97CA33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ADF51-6E04-EAA8-5207-5747DB7A3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4BD59-CAC2-5638-63F1-03B7926CC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15EB-317A-44BB-AEA9-32708D34226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06B84-9613-3254-6DB1-77A59ACF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0D2BF-1FC8-C462-A6E9-57AEE4DC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D115-4B1B-4881-855A-F47CC66C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1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E3450-7562-E1C0-3918-63508B902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6E301-B5B2-B28F-B87B-7002A94CF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1F505-B10E-1CF6-FA3E-0D0781011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15EB-317A-44BB-AEA9-32708D34226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28AB5-5569-3E74-F016-053132A43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C4986-A35F-1020-AFDC-A3076817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D115-4B1B-4881-855A-F47CC66C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9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5929-0929-316F-A79F-2E4DC0F52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5B0C2-C1F5-2BB5-FDC7-B1267514F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5C9F8-19D2-76DA-0D69-7E46A961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15EB-317A-44BB-AEA9-32708D34226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418-14D2-B736-AB6B-91BF3A5C9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49A4D-8794-C9D7-CFCF-275686431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D115-4B1B-4881-855A-F47CC66C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93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EF0D-CE45-ADC0-48CD-84986C228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60BCA-3B95-EA3C-49FF-4521B755BE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C8770-9ECF-33B8-0EE6-5D054001D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474CC-6721-7487-1FFD-1F2351676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15EB-317A-44BB-AEA9-32708D34226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3BF1C-5536-17BD-F271-2935ECF52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F8640-6AD2-A783-6139-B64C7C880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D115-4B1B-4881-855A-F47CC66C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18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8B0E-A4CB-3A92-FFCE-FD5A15CB0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4D68C-5916-8673-6717-80820FC1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EF87A-0823-BA29-82AC-210636FA0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55A91F-3A06-C9B4-2FA8-2D51A9673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04D4B5-06D0-757A-DA40-F59B511663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9C100-9E3E-BBC1-8C45-6A1E77C2F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15EB-317A-44BB-AEA9-32708D34226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EC44EC-38E5-6E85-DBCB-7DEDB646D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6132F-5E24-9287-375E-197042575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D115-4B1B-4881-855A-F47CC66C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32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677B-A2C8-926A-1298-29ECA260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896410-66CA-2091-C15F-B7F2347B3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15EB-317A-44BB-AEA9-32708D34226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582B09-AD6D-8B9C-2A0C-7680312B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2133F-7FD0-8EE5-6183-477C09C6A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D115-4B1B-4881-855A-F47CC66C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44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FD0AAF-510E-B045-4182-64EBA4517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15EB-317A-44BB-AEA9-32708D34226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949931-951B-D85F-984F-DF4D8E7DC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EF23D-E3C8-FE48-DDB7-17C4F50F8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D115-4B1B-4881-855A-F47CC66C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2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F96F-5021-6251-5AE8-56CB9E6F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6D3D9-0E19-B876-DE97-225363445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58790-8A81-5C6E-7F71-9A15B2330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6163F-393C-68B6-D754-F6BE45BFA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15EB-317A-44BB-AEA9-32708D34226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FAA4B-A9CD-ED90-4C1F-76C90A02F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55BD6-C9B4-4DC8-E917-5B1C0F424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D115-4B1B-4881-855A-F47CC66C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76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F4672-BB86-3E26-35EA-0BD6BB9F4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7D6F2-7C7A-1873-146A-1773A3023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269EFD-CBB1-B40A-87B2-562326312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5C596-DD86-995F-0E08-BA3992337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15EB-317A-44BB-AEA9-32708D34226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0AFE4-D243-94E7-72B8-4F7521C5F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7275F-E746-B207-2EC8-5ED78CC7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D115-4B1B-4881-855A-F47CC66C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03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69D2E-9BA6-EB19-4C1B-5B6DF8651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E5014-3538-949C-8D91-C2FCBEFFF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C04A-4382-28E7-071E-D2108856C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15EB-317A-44BB-AEA9-32708D34226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0CFAB-DE98-DBCC-3BA5-F45CFF4B2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F211B-91F2-13AF-392B-86DECD283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D115-4B1B-4881-855A-F47CC66C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06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0D5B6-8ACC-23F0-9C9E-E7AF3273B2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FE012-2051-0FE0-9A40-2D3B158E0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28589-07F2-ABAF-DB50-B024FE972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15EB-317A-44BB-AEA9-32708D34226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CF54C-51F2-75A5-775A-7430BD47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04EB4-381A-4FEE-C8F1-C6268A23E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CD115-4B1B-4881-855A-F47CC66C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56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D39689-B4BB-2446-5217-F782EDB21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3682B-A558-88DD-275F-C409F1261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A5E83-B3BB-A27A-F2BF-AFEC4AD3F4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A15EB-317A-44BB-AEA9-32708D34226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9C765-5DFF-BA87-83EF-69DD4E76A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151ED-E7B6-9B30-46E7-EE7A62269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CD115-4B1B-4881-855A-F47CC66C8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1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C6E8E-F27E-3392-0685-4CACF027E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Understanding Model Context Protocol (MCP)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problem&#10;&#10;AI-generated content may be incorrect.">
            <a:extLst>
              <a:ext uri="{FF2B5EF4-FFF2-40B4-BE49-F238E27FC236}">
                <a16:creationId xmlns:a16="http://schemas.microsoft.com/office/drawing/2014/main" id="{457AE7A8-008A-4483-1D87-A52A2C20A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559" y="2188865"/>
            <a:ext cx="3737164" cy="249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867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95BE4-F6BF-AC3A-B505-2C39D86E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FDBA08-DB07-6DAC-4D65-B68A1E7F8A58}"/>
              </a:ext>
            </a:extLst>
          </p:cNvPr>
          <p:cNvSpPr txBox="1"/>
          <p:nvPr/>
        </p:nvSpPr>
        <p:spPr>
          <a:xfrm>
            <a:off x="841246" y="673770"/>
            <a:ext cx="3644489" cy="24144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Topics to be Discussed in This Session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0E7D83-4EAE-6E25-C5A4-60D5A5F50240}"/>
              </a:ext>
            </a:extLst>
          </p:cNvPr>
          <p:cNvSpPr txBox="1"/>
          <p:nvPr/>
        </p:nvSpPr>
        <p:spPr>
          <a:xfrm>
            <a:off x="5904469" y="882315"/>
            <a:ext cx="6096001" cy="5294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Problem Scenario (for knowing the need of MCP)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MCP Introduction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Core Components of MCP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Understanding the Architecture of MCP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Discuss Benefits of Using MCP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Hands-on with Code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40328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941E-6F56-39CC-ED5B-DEAE1BC28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8BB8D333-6A8B-DFF3-44F4-1E3AF79DF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4" y="1121438"/>
            <a:ext cx="4783491" cy="42319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FA26F2-87BF-BA95-E579-3D7388BADACB}"/>
              </a:ext>
            </a:extLst>
          </p:cNvPr>
          <p:cNvSpPr txBox="1"/>
          <p:nvPr/>
        </p:nvSpPr>
        <p:spPr>
          <a:xfrm>
            <a:off x="4955425" y="1188826"/>
            <a:ext cx="69026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Lets Say there is one company named ABC . It has built an internal </a:t>
            </a:r>
            <a:r>
              <a:rPr lang="en-US" b="1"/>
              <a:t>AI Chatbot System</a:t>
            </a:r>
            <a:r>
              <a:rPr lang="en-US"/>
              <a:t> that integrates with multiple services:</a:t>
            </a:r>
          </a:p>
          <a:p>
            <a:pPr>
              <a:buNone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Google Drive – </a:t>
            </a:r>
            <a:r>
              <a:rPr lang="en-US">
                <a:solidFill>
                  <a:schemeClr val="accent5"/>
                </a:solidFill>
              </a:rPr>
              <a:t>for file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Jira – </a:t>
            </a:r>
            <a:r>
              <a:rPr lang="en-US">
                <a:solidFill>
                  <a:srgbClr val="00B050"/>
                </a:solidFill>
              </a:rPr>
              <a:t>for issue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Slack – </a:t>
            </a:r>
            <a:r>
              <a:rPr lang="en-US">
                <a:solidFill>
                  <a:srgbClr val="0070C0"/>
                </a:solidFill>
              </a:rPr>
              <a:t>for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GitHub – </a:t>
            </a:r>
            <a:r>
              <a:rPr lang="en-US">
                <a:solidFill>
                  <a:srgbClr val="FF0000"/>
                </a:solidFill>
              </a:rPr>
              <a:t>for code-related queries</a:t>
            </a:r>
          </a:p>
          <a:p>
            <a:endParaRPr lang="en-US"/>
          </a:p>
          <a:p>
            <a:pPr>
              <a:buNone/>
            </a:pPr>
            <a:r>
              <a:rPr lang="en-US"/>
              <a:t>When a user asks a question: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File-related questions </a:t>
            </a:r>
            <a:r>
              <a:rPr lang="en-US"/>
              <a:t>→ Chatbot calls </a:t>
            </a:r>
            <a:r>
              <a:rPr lang="en-US" b="1"/>
              <a:t>Drive Tools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Code-related questions </a:t>
            </a:r>
            <a:r>
              <a:rPr lang="en-US"/>
              <a:t>→ Chatbot calls </a:t>
            </a:r>
            <a:r>
              <a:rPr lang="en-US" b="1"/>
              <a:t>GitHub Tools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Task/bug questions </a:t>
            </a:r>
            <a:r>
              <a:rPr lang="en-US"/>
              <a:t>→ Chatbot calls </a:t>
            </a:r>
            <a:r>
              <a:rPr lang="en-US" b="1"/>
              <a:t>Jira Tools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Message-related questions </a:t>
            </a:r>
            <a:r>
              <a:rPr lang="en-US"/>
              <a:t>→ Chatbot calls </a:t>
            </a:r>
            <a:r>
              <a:rPr lang="en-US" b="1"/>
              <a:t>Slack Tools</a:t>
            </a:r>
            <a:endParaRPr lang="en-US"/>
          </a:p>
          <a:p>
            <a:pPr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49DE1C-388E-E6A6-2167-8FF6526403EC}"/>
              </a:ext>
            </a:extLst>
          </p:cNvPr>
          <p:cNvSpPr txBox="1"/>
          <p:nvPr/>
        </p:nvSpPr>
        <p:spPr>
          <a:xfrm>
            <a:off x="182880" y="403167"/>
            <a:ext cx="3383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Scenario 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24705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627B4-857E-6123-A1ED-79E74D520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07CE1EE-538D-162D-8340-09304EABD49E}"/>
              </a:ext>
            </a:extLst>
          </p:cNvPr>
          <p:cNvSpPr txBox="1"/>
          <p:nvPr/>
        </p:nvSpPr>
        <p:spPr>
          <a:xfrm>
            <a:off x="6602204" y="1188826"/>
            <a:ext cx="532655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Let’s focus only on </a:t>
            </a:r>
            <a:r>
              <a:rPr lang="en-US" b="1" dirty="0"/>
              <a:t>Drive Tools</a:t>
            </a:r>
            <a:r>
              <a:rPr lang="en-US" dirty="0"/>
              <a:t>.</a:t>
            </a:r>
          </a:p>
          <a:p>
            <a:r>
              <a:rPr lang="en-US" dirty="0"/>
              <a:t>ABC Company has created </a:t>
            </a:r>
            <a:r>
              <a:rPr lang="en-US" b="1" dirty="0">
                <a:solidFill>
                  <a:srgbClr val="FF0000"/>
                </a:solidFill>
              </a:rPr>
              <a:t>N number of Drive tools</a:t>
            </a:r>
            <a:r>
              <a:rPr lang="en-US" dirty="0"/>
              <a:t>, such as: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70C0"/>
                </a:solidFill>
              </a:rPr>
              <a:t>list_drive_files</a:t>
            </a:r>
            <a:r>
              <a:rPr lang="en-US" dirty="0">
                <a:solidFill>
                  <a:srgbClr val="0070C0"/>
                </a:solidFill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70C0"/>
                </a:solidFill>
              </a:rPr>
              <a:t>upload_drive_file</a:t>
            </a:r>
            <a:r>
              <a:rPr lang="en-US" dirty="0">
                <a:solidFill>
                  <a:srgbClr val="0070C0"/>
                </a:solidFill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70C0"/>
                </a:solidFill>
              </a:rPr>
              <a:t>delete_drive_file</a:t>
            </a:r>
            <a:r>
              <a:rPr lang="en-US" dirty="0">
                <a:solidFill>
                  <a:srgbClr val="0070C0"/>
                </a:solidFill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70C0"/>
                </a:solidFill>
              </a:rPr>
              <a:t>search_drive_files</a:t>
            </a:r>
            <a:r>
              <a:rPr lang="en-US" dirty="0">
                <a:solidFill>
                  <a:srgbClr val="0070C0"/>
                </a:solidFill>
              </a:rPr>
              <a:t>() ETC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All these tools internally depend on a function like:</a:t>
            </a:r>
            <a:br>
              <a:rPr lang="en-US" dirty="0"/>
            </a:b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get_drive_service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</a:t>
            </a:r>
            <a:r>
              <a:rPr lang="en-US" dirty="0"/>
              <a:t>→ </a:t>
            </a:r>
            <a:r>
              <a:rPr lang="en-US" b="1" dirty="0"/>
              <a:t>which connects to Google Drive APIs.</a:t>
            </a:r>
          </a:p>
          <a:p>
            <a:endParaRPr lang="en-US" dirty="0"/>
          </a:p>
          <a:p>
            <a:r>
              <a:rPr lang="en-US" dirty="0"/>
              <a:t>Now imagine this:</a:t>
            </a:r>
          </a:p>
          <a:p>
            <a:r>
              <a:rPr lang="en-US" dirty="0"/>
              <a:t>After a few years, </a:t>
            </a:r>
            <a:r>
              <a:rPr lang="en-US" b="1" dirty="0"/>
              <a:t>Google updates their Drive API</a:t>
            </a:r>
            <a:r>
              <a:rPr lang="en-US" dirty="0"/>
              <a:t> and changes the internal implementation of </a:t>
            </a: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get_drive_service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().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0AE45-A49E-F10A-EBAE-BDCA5DDAF384}"/>
              </a:ext>
            </a:extLst>
          </p:cNvPr>
          <p:cNvSpPr txBox="1"/>
          <p:nvPr/>
        </p:nvSpPr>
        <p:spPr>
          <a:xfrm>
            <a:off x="182880" y="403167"/>
            <a:ext cx="3383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Real Problem :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4B1E6A3-692C-9F8E-58EA-A366CCEFD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5" y="1059243"/>
            <a:ext cx="6602204" cy="548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413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BF826-17DE-226E-1818-FB5A05A68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262ADAF-2AF1-722F-FD61-683C14C80E6A}"/>
              </a:ext>
            </a:extLst>
          </p:cNvPr>
          <p:cNvSpPr txBox="1"/>
          <p:nvPr/>
        </p:nvSpPr>
        <p:spPr>
          <a:xfrm>
            <a:off x="6631299" y="534532"/>
            <a:ext cx="528915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Then Suddenly: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relevant Drive tools stop working.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Developers must go tool-by-tool and update each 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takes </a:t>
            </a:r>
            <a:r>
              <a:rPr lang="en-US" b="1" dirty="0"/>
              <a:t>time, effort, and increases chances of bugs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Now lets assume ABC Company is not using just 4 services. They are using </a:t>
            </a:r>
            <a:r>
              <a:rPr lang="en-US" b="1" dirty="0">
                <a:solidFill>
                  <a:srgbClr val="FF0000"/>
                </a:solidFill>
              </a:rPr>
              <a:t>20–30 services</a:t>
            </a:r>
            <a:r>
              <a:rPr lang="en-US" dirty="0"/>
              <a:t>, and each service has </a:t>
            </a:r>
            <a:r>
              <a:rPr lang="en-US" b="1" dirty="0">
                <a:solidFill>
                  <a:srgbClr val="FF0000"/>
                </a:solidFill>
              </a:rPr>
              <a:t>30–40 tools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means: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Hundreds of tools to maintain.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Every API change = There is huge engineering effort.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Developers must constantly monitor all third-party service updates.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This creates a </a:t>
            </a:r>
            <a:r>
              <a:rPr lang="en-US" b="1" dirty="0"/>
              <a:t>maintenance nightmare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B05B28-F677-CFB8-7401-4DA8B54545CD}"/>
              </a:ext>
            </a:extLst>
          </p:cNvPr>
          <p:cNvSpPr txBox="1"/>
          <p:nvPr/>
        </p:nvSpPr>
        <p:spPr>
          <a:xfrm>
            <a:off x="182880" y="403167"/>
            <a:ext cx="3383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Continue . . .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002120A-7D33-D005-17F7-900E912FC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5" y="1059243"/>
            <a:ext cx="6602204" cy="548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45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C712F-F354-214E-9B9F-108E31996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9EA0784-A744-8501-91F5-5281099EA82B}"/>
              </a:ext>
            </a:extLst>
          </p:cNvPr>
          <p:cNvSpPr txBox="1"/>
          <p:nvPr/>
        </p:nvSpPr>
        <p:spPr>
          <a:xfrm>
            <a:off x="6096000" y="1039091"/>
            <a:ext cx="582445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With MCP: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Each service (Drive, GitHub, Jira, Slack…etc) provides its own </a:t>
            </a:r>
            <a:r>
              <a:rPr lang="en-US" b="1"/>
              <a:t>MCP Server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chatbot acts as an </a:t>
            </a:r>
            <a:r>
              <a:rPr lang="en-US" b="1"/>
              <a:t>MCP Client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All API updates are handled by </a:t>
            </a:r>
            <a:r>
              <a:rPr lang="en-US" b="1"/>
              <a:t>service providers themselves </a:t>
            </a:r>
            <a:r>
              <a:rPr lang="en-US"/>
              <a:t>inside the MCP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chatbot does </a:t>
            </a:r>
            <a:r>
              <a:rPr lang="en-US" b="1"/>
              <a:t>not need to change its internal code</a:t>
            </a:r>
            <a:r>
              <a:rPr lang="en-US"/>
              <a:t> when services update APIs.</a:t>
            </a:r>
          </a:p>
          <a:p>
            <a:endParaRPr lang="en-US"/>
          </a:p>
          <a:p>
            <a:r>
              <a:rPr lang="en-US"/>
              <a:t>So instead of updating </a:t>
            </a:r>
            <a:r>
              <a:rPr lang="en-US" b="1"/>
              <a:t>hundreds of tools</a:t>
            </a:r>
            <a:r>
              <a:rPr lang="en-US"/>
              <a:t>, ABC Company only needs to:</a:t>
            </a:r>
          </a:p>
          <a:p>
            <a:endParaRPr lang="en-US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Update the MCP server for that specific service.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Keep the chatbot untouched.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Which really Save time, cost, and engineering effort.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01950-6A0B-0E04-12D9-99A0C1D2217B}"/>
              </a:ext>
            </a:extLst>
          </p:cNvPr>
          <p:cNvSpPr txBox="1"/>
          <p:nvPr/>
        </p:nvSpPr>
        <p:spPr>
          <a:xfrm>
            <a:off x="182880" y="403167"/>
            <a:ext cx="3383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How MCP Solves This:</a:t>
            </a:r>
            <a:endParaRPr lang="en-US" sz="2400" b="1" dirty="0"/>
          </a:p>
        </p:txBody>
      </p:sp>
      <p:pic>
        <p:nvPicPr>
          <p:cNvPr id="4" name="Picture 3" descr="A diagram of a service provider&#10;&#10;AI-generated content may be incorrect.">
            <a:extLst>
              <a:ext uri="{FF2B5EF4-FFF2-40B4-BE49-F238E27FC236}">
                <a16:creationId xmlns:a16="http://schemas.microsoft.com/office/drawing/2014/main" id="{2ED6D464-A894-6C25-AB57-9BF02BEBC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49" y="1159626"/>
            <a:ext cx="5295207" cy="529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78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9E026-9560-CF5E-1CF4-DE5CA637D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F9C723C-7D62-269C-6736-64C206C15701}"/>
              </a:ext>
            </a:extLst>
          </p:cNvPr>
          <p:cNvSpPr txBox="1"/>
          <p:nvPr/>
        </p:nvSpPr>
        <p:spPr>
          <a:xfrm>
            <a:off x="182880" y="403167"/>
            <a:ext cx="5824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MCP (Model Context Protocol):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02DE9-020F-800A-F793-4251D7CDF0E1}"/>
              </a:ext>
            </a:extLst>
          </p:cNvPr>
          <p:cNvSpPr txBox="1"/>
          <p:nvPr/>
        </p:nvSpPr>
        <p:spPr>
          <a:xfrm>
            <a:off x="182880" y="1086118"/>
            <a:ext cx="1164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Model Context Protocol (MCP)</a:t>
            </a:r>
            <a:r>
              <a:rPr lang="en-US" dirty="0"/>
              <a:t> is an open protocol that enables Large Language Models (LLMs) to interact with external tools using structured API calls over </a:t>
            </a:r>
            <a:r>
              <a:rPr lang="en-US" b="1" dirty="0"/>
              <a:t>JSON-RPC 2.0</a:t>
            </a:r>
            <a:r>
              <a:rPr lang="en-US" dirty="0"/>
              <a:t>. IT was introduced by Anthropic on November 25, 2024.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2B202-F510-67B1-296A-45177611B583}"/>
              </a:ext>
            </a:extLst>
          </p:cNvPr>
          <p:cNvSpPr txBox="1"/>
          <p:nvPr/>
        </p:nvSpPr>
        <p:spPr>
          <a:xfrm>
            <a:off x="182879" y="1953735"/>
            <a:ext cx="116485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When the host </a:t>
            </a:r>
            <a:r>
              <a:rPr lang="en-US" b="1" dirty="0"/>
              <a:t>(chatbot - </a:t>
            </a:r>
            <a:r>
              <a:rPr lang="en-US" b="1" dirty="0" err="1"/>
              <a:t>gpt</a:t>
            </a:r>
            <a:r>
              <a:rPr lang="en-US" b="1" dirty="0"/>
              <a:t>, </a:t>
            </a:r>
            <a:r>
              <a:rPr lang="en-US" b="1" dirty="0" err="1"/>
              <a:t>claude</a:t>
            </a:r>
            <a:r>
              <a:rPr lang="en-US" b="1" dirty="0"/>
              <a:t>, bedrock ) </a:t>
            </a:r>
            <a:r>
              <a:rPr lang="en-US" dirty="0"/>
              <a:t>needs to use a tool, it asks the </a:t>
            </a:r>
            <a:r>
              <a:rPr lang="en-US" b="1" dirty="0"/>
              <a:t>MCP client </a:t>
            </a:r>
            <a:r>
              <a:rPr lang="en-US" dirty="0"/>
              <a:t>to communicate with the </a:t>
            </a:r>
            <a:r>
              <a:rPr lang="en-US" b="1" dirty="0"/>
              <a:t>MCP server</a:t>
            </a:r>
            <a:r>
              <a:rPr lang="en-US" dirty="0"/>
              <a:t>. The client can either ask server to retrieve the list of available tools or request the server to invoke a specific tool and return the result. </a:t>
            </a:r>
            <a:r>
              <a:rPr lang="en-US" dirty="0">
                <a:solidFill>
                  <a:srgbClr val="FF0000"/>
                </a:solidFill>
              </a:rPr>
              <a:t>All communication between the MCP client and the server happens using the JSON-RPC 2.0 format.</a:t>
            </a:r>
            <a:endParaRPr lang="en-US" b="1" dirty="0">
              <a:solidFill>
                <a:srgbClr val="FF0000"/>
              </a:solidFill>
            </a:endParaRP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JSON-RPC 2.0 – </a:t>
            </a:r>
            <a:r>
              <a:rPr lang="en-US" dirty="0"/>
              <a:t>JSON-RPC is the communication format between the MCP Client and MCP Server. IT supports multiple transport methods such as </a:t>
            </a:r>
            <a:r>
              <a:rPr lang="en-US" b="1" dirty="0" err="1"/>
              <a:t>stdio</a:t>
            </a:r>
            <a:r>
              <a:rPr lang="en-US" dirty="0"/>
              <a:t>, </a:t>
            </a:r>
            <a:r>
              <a:rPr lang="en-US" b="1" dirty="0"/>
              <a:t>HTTP/SSE</a:t>
            </a:r>
            <a:r>
              <a:rPr lang="en-US" dirty="0"/>
              <a:t>, and </a:t>
            </a:r>
            <a:r>
              <a:rPr lang="en-US" b="1" dirty="0" err="1"/>
              <a:t>WebSockets</a:t>
            </a:r>
            <a:r>
              <a:rPr lang="en-US" dirty="0"/>
              <a:t>.</a:t>
            </a:r>
          </a:p>
          <a:p>
            <a:pPr algn="just"/>
            <a:endParaRPr lang="en-US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02510E-CE64-C430-8917-A9A3D5ED6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98" y="4895845"/>
            <a:ext cx="2904947" cy="15589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C18433-B6ED-D0FE-6657-3DBF07D4B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961" y="4895845"/>
            <a:ext cx="3225490" cy="15589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C51CAC-4A16-36B8-3823-7A3C5F3546E0}"/>
              </a:ext>
            </a:extLst>
          </p:cNvPr>
          <p:cNvSpPr txBox="1"/>
          <p:nvPr/>
        </p:nvSpPr>
        <p:spPr>
          <a:xfrm>
            <a:off x="431478" y="4142228"/>
            <a:ext cx="3058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Client Request Structure 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using </a:t>
            </a:r>
            <a:r>
              <a:rPr lang="en-US" b="1" dirty="0">
                <a:solidFill>
                  <a:srgbClr val="0070C0"/>
                </a:solidFill>
              </a:rPr>
              <a:t>JSON-RPC 2.0 Format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739E36-3308-5038-EA06-B4C2161EE030}"/>
              </a:ext>
            </a:extLst>
          </p:cNvPr>
          <p:cNvSpPr txBox="1"/>
          <p:nvPr/>
        </p:nvSpPr>
        <p:spPr>
          <a:xfrm>
            <a:off x="7701956" y="4117287"/>
            <a:ext cx="3058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Server Response Structure 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using </a:t>
            </a:r>
            <a:r>
              <a:rPr lang="en-US" b="1" dirty="0">
                <a:solidFill>
                  <a:srgbClr val="7030A0"/>
                </a:solidFill>
              </a:rPr>
              <a:t>JSON-RPC 2.0 Format</a:t>
            </a:r>
            <a:r>
              <a:rPr lang="en-US" dirty="0">
                <a:solidFill>
                  <a:srgbClr val="7030A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8696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6F7DE-E343-D575-C7D1-E6D6002DB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6248832-8628-97D1-FBEB-8F1BA75AA8A1}"/>
              </a:ext>
            </a:extLst>
          </p:cNvPr>
          <p:cNvSpPr txBox="1"/>
          <p:nvPr/>
        </p:nvSpPr>
        <p:spPr>
          <a:xfrm>
            <a:off x="182880" y="395579"/>
            <a:ext cx="4515262" cy="5164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Continue . . 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57ECF8-894F-19CE-ADDE-E272791262BC}"/>
              </a:ext>
            </a:extLst>
          </p:cNvPr>
          <p:cNvSpPr txBox="1"/>
          <p:nvPr/>
        </p:nvSpPr>
        <p:spPr>
          <a:xfrm>
            <a:off x="94445" y="1803637"/>
            <a:ext cx="5709633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Each MCP server can expose three things: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Tools</a:t>
            </a:r>
            <a:r>
              <a:rPr lang="en-US" sz="1700" dirty="0"/>
              <a:t> – Actions the AI can perform, like searching files, creating tickets, or calling APIs.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Resources</a:t>
            </a:r>
            <a:r>
              <a:rPr lang="en-US" sz="1700" dirty="0"/>
              <a:t> – Data the AI can read, such as documents, database records, or files.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Prompts</a:t>
            </a:r>
            <a:r>
              <a:rPr lang="en-US" sz="1700" dirty="0"/>
              <a:t> – Predefined instructions or templates that guide how the AI should behave or respond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0658E-935E-E5FF-4146-3D226662E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180" y="1107661"/>
            <a:ext cx="6001555" cy="466422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25AAC2-F564-3D32-5804-09D595E462D0}"/>
              </a:ext>
            </a:extLst>
          </p:cNvPr>
          <p:cNvSpPr txBox="1"/>
          <p:nvPr/>
        </p:nvSpPr>
        <p:spPr>
          <a:xfrm>
            <a:off x="182880" y="1086118"/>
            <a:ext cx="1164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66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EE1F1-93A6-C9E8-877A-6125E34A0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FF6C9CC-99A1-7B51-C4AE-B02F2EFA3689}"/>
              </a:ext>
            </a:extLst>
          </p:cNvPr>
          <p:cNvSpPr txBox="1"/>
          <p:nvPr/>
        </p:nvSpPr>
        <p:spPr>
          <a:xfrm>
            <a:off x="6557256" y="813574"/>
            <a:ext cx="528915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In this architecture, the </a:t>
            </a:r>
            <a:r>
              <a:rPr lang="en-US" sz="1600" b="1" dirty="0"/>
              <a:t>User talks only to the Host  </a:t>
            </a:r>
            <a:r>
              <a:rPr lang="en-US" sz="1600" dirty="0"/>
              <a:t>(e.g., GPT, Claude, Gemini, Bedrock).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The Host AI does </a:t>
            </a:r>
            <a:r>
              <a:rPr lang="en-US" sz="1600" b="1" dirty="0"/>
              <a:t>not access tools directly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Instead, it uses </a:t>
            </a:r>
            <a:r>
              <a:rPr lang="en-US" sz="1600" b="1" dirty="0"/>
              <a:t>MCP Clients</a:t>
            </a:r>
            <a:r>
              <a:rPr lang="en-US" sz="1600" dirty="0"/>
              <a:t> to communicate with </a:t>
            </a:r>
            <a:r>
              <a:rPr lang="en-US" sz="1600" b="1" dirty="0"/>
              <a:t>MCP Servers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B9FA74-912F-ACA0-55A5-712DFE92C7B6}"/>
              </a:ext>
            </a:extLst>
          </p:cNvPr>
          <p:cNvSpPr txBox="1"/>
          <p:nvPr/>
        </p:nvSpPr>
        <p:spPr>
          <a:xfrm>
            <a:off x="101313" y="227155"/>
            <a:ext cx="79737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Understanding Model Context Protocol Architecture: </a:t>
            </a:r>
          </a:p>
          <a:p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BE380C-8B2D-4169-5342-0036E7BB5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428420"/>
            <a:ext cx="6502939" cy="44743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B290F9-713E-5E7D-78AA-B529E0C2E37F}"/>
              </a:ext>
            </a:extLst>
          </p:cNvPr>
          <p:cNvSpPr txBox="1"/>
          <p:nvPr/>
        </p:nvSpPr>
        <p:spPr>
          <a:xfrm>
            <a:off x="6486659" y="2511590"/>
            <a:ext cx="5561031" cy="3627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7030A0"/>
                </a:solidFill>
              </a:rPr>
              <a:t>How the Flow Works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User asks a question Example: </a:t>
            </a:r>
            <a:r>
              <a:rPr lang="en-US" sz="1600" i="1" dirty="0"/>
              <a:t>“List all my Google Drive files”</a:t>
            </a:r>
            <a:endParaRPr lang="en-US" sz="16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The </a:t>
            </a:r>
            <a:r>
              <a:rPr lang="en-US" sz="1600" b="1" dirty="0"/>
              <a:t>Host AI</a:t>
            </a:r>
            <a:r>
              <a:rPr lang="en-US" sz="1600" dirty="0"/>
              <a:t> understands the request.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Since it needs external data, it calls the correct </a:t>
            </a:r>
            <a:r>
              <a:rPr lang="en-US" sz="1600" b="1" dirty="0"/>
              <a:t>MCP Client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The </a:t>
            </a:r>
            <a:r>
              <a:rPr lang="en-US" sz="1600" b="1" dirty="0"/>
              <a:t>Client</a:t>
            </a:r>
            <a:r>
              <a:rPr lang="en-US" sz="1600" dirty="0"/>
              <a:t> communicates with the server using JSON-RPC 2.0 </a:t>
            </a:r>
            <a:r>
              <a:rPr lang="en-US" sz="1600" b="1" dirty="0"/>
              <a:t>to request </a:t>
            </a:r>
            <a:r>
              <a:rPr lang="en-US" sz="1600" dirty="0"/>
              <a:t>the </a:t>
            </a:r>
            <a:r>
              <a:rPr lang="en-US" sz="1600" b="1" dirty="0"/>
              <a:t>invocation of the correct tool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The </a:t>
            </a:r>
            <a:r>
              <a:rPr lang="en-US" sz="1600" b="1" dirty="0"/>
              <a:t>server executes </a:t>
            </a:r>
            <a:r>
              <a:rPr lang="en-US" sz="1600" dirty="0"/>
              <a:t>the tool and </a:t>
            </a:r>
            <a:r>
              <a:rPr lang="en-US" sz="1600" b="1" dirty="0"/>
              <a:t>sends </a:t>
            </a:r>
            <a:r>
              <a:rPr lang="en-US" sz="1600" dirty="0"/>
              <a:t>the result to the client, and the client forwards it to the Host.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The Host </a:t>
            </a:r>
            <a:r>
              <a:rPr lang="en-US" sz="1600" b="1" dirty="0"/>
              <a:t>formats </a:t>
            </a:r>
            <a:r>
              <a:rPr lang="en-US" sz="1600" dirty="0"/>
              <a:t>the response and sends it back to the </a:t>
            </a:r>
            <a:r>
              <a:rPr lang="en-US" sz="1600" b="1" dirty="0"/>
              <a:t>User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443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5238F-5E3E-D427-D23B-565588F4E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11813ED-FD82-424F-9F9C-AA745DAADA2A}"/>
              </a:ext>
            </a:extLst>
          </p:cNvPr>
          <p:cNvSpPr txBox="1"/>
          <p:nvPr/>
        </p:nvSpPr>
        <p:spPr>
          <a:xfrm>
            <a:off x="101313" y="227155"/>
            <a:ext cx="79737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Advantages of Using MCP: </a:t>
            </a:r>
          </a:p>
          <a:p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9EE203-4F94-4499-19EE-674DB6384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13" y="1440889"/>
            <a:ext cx="5178887" cy="3563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C7B34F-52F7-6CBE-4623-2F6C0E995465}"/>
              </a:ext>
            </a:extLst>
          </p:cNvPr>
          <p:cNvSpPr txBox="1"/>
          <p:nvPr/>
        </p:nvSpPr>
        <p:spPr>
          <a:xfrm>
            <a:off x="5448992" y="1159627"/>
            <a:ext cx="638833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1" dirty="0"/>
              <a:t>Reduce Maintenance Effort</a:t>
            </a:r>
          </a:p>
          <a:p>
            <a:pPr algn="just"/>
            <a:r>
              <a:rPr lang="en-US" sz="1600" dirty="0"/>
              <a:t>There is no need to modify any tool logic, as service providers themselves update and maintain their tools on their own servers.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1" dirty="0"/>
              <a:t>Scalability</a:t>
            </a:r>
          </a:p>
          <a:p>
            <a:pPr algn="just"/>
            <a:r>
              <a:rPr lang="en-US" sz="1600" dirty="0"/>
              <a:t>Easily supports integration with 20–30+ services and thousands of tools.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1" dirty="0"/>
              <a:t>Standardized Communication</a:t>
            </a:r>
          </a:p>
          <a:p>
            <a:pPr algn="just"/>
            <a:r>
              <a:rPr lang="en-US" sz="1600" dirty="0"/>
              <a:t>Uses a common protocol (JSON-RPC 2.0) for all tool interactions.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1" dirty="0"/>
              <a:t>Decoupled Architecture</a:t>
            </a:r>
          </a:p>
          <a:p>
            <a:pPr algn="just"/>
            <a:r>
              <a:rPr lang="en-US" sz="1600" dirty="0"/>
              <a:t>The AI system(host) is completely separated from service logic, improving flexibility.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1" dirty="0"/>
              <a:t>Faster Development</a:t>
            </a:r>
          </a:p>
          <a:p>
            <a:pPr algn="just"/>
            <a:r>
              <a:rPr lang="en-US" sz="1600" dirty="0"/>
              <a:t>New tools and services can be added without modifying the core chatbot.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1" dirty="0"/>
              <a:t>Lower Cost &amp; Time</a:t>
            </a:r>
          </a:p>
          <a:p>
            <a:pPr algn="just"/>
            <a:r>
              <a:rPr lang="en-US" sz="1600" dirty="0"/>
              <a:t>Less engineering effort = reduced operational and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251394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d2e4901-b5ad-42ae-9e9d-f456e52148af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1064</Words>
  <Application>Microsoft Office PowerPoint</Application>
  <PresentationFormat>Widescreen</PresentationFormat>
  <Paragraphs>119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Bhandari, Miraj</dc:creator>
  <cp:lastModifiedBy>Bhandari, Miraj</cp:lastModifiedBy>
  <cp:revision>31</cp:revision>
  <dcterms:created xsi:type="dcterms:W3CDTF">2025-11-28T05:14:14Z</dcterms:created>
  <dcterms:modified xsi:type="dcterms:W3CDTF">2025-11-28T12:39:40Z</dcterms:modified>
</cp:coreProperties>
</file>